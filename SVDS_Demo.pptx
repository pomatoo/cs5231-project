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B5C6"/>
    <a:srgbClr val="30A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1E91FF-6954-421C-9180-A98401C08D5D}" v="47" dt="2025-12-02T15:35:32.2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D15C0-0222-46F2-8F6E-D02057AFA0E9}" type="datetimeFigureOut">
              <a:rPr lang="en-SG" smtClean="0"/>
              <a:t>3 Dec 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9DAA18-E795-4B82-AAF4-432AD3BDEA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67249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Discovering vulnerabilities in large binaries is increasingly difficult due to the large number of potential entry points, making exhaustive analysis computationally expensive and manpower intensive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9DAA18-E795-4B82-AAF4-432AD3BDEA9A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28686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50DBF-413A-3BBC-618A-3AA905668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1F7463-1FEB-662C-B6AF-75CCEF599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884949-BD3B-8EE0-68D1-7AEBBCC4B0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50172-798A-C8B1-5389-DA3355B18E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9DAA18-E795-4B82-AAF4-432AD3BDEA9A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88915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72A4D-372D-C084-89E2-E401DD059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26F191-4D86-E2EA-B0DE-91EA2E975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7E1F1B-9BBF-8F07-4C0E-BE76EDC9B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E89BC-7537-6BD4-6BCB-20079D59C6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9DAA18-E795-4B82-AAF4-432AD3BDEA9A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30547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4607B-E5D5-8A65-028B-6D4ADCF70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92082E-26A8-BD44-A8A7-CD0F07ECBE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35E2D8-DD5D-1C00-B39F-41C821726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4B80F-4E47-1E73-39F4-69442B826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9DAA18-E795-4B82-AAF4-432AD3BDEA9A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1856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9BA66-06ED-75A1-AB01-2BC6182C30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60BACC-D794-21EC-627F-89BDDD0604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AE95E-9246-2AD2-D03B-3E7B907AE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DD09-2DCF-4F4C-BD88-47BE76C44526}" type="datetimeFigureOut">
              <a:rPr lang="en-SG" smtClean="0"/>
              <a:t>3 Dec 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5FA9A-35B7-C705-21F8-1DAE78625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E386A-6011-1647-B0A6-36A7A99E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4583-F8B5-40B0-8486-FBB72F0780F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5679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C55D1-7E27-8D72-1300-9E77A6E77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9DA4D-6079-6765-C62F-F9F3A619F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CEAEE-C951-C9EA-101D-66EDF777F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DD09-2DCF-4F4C-BD88-47BE76C44526}" type="datetimeFigureOut">
              <a:rPr lang="en-SG" smtClean="0"/>
              <a:t>3 Dec 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57F64-66E7-BAC9-A6E8-419F8E526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D578A-1998-9B8D-7EBA-7389C9A23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4583-F8B5-40B0-8486-FBB72F0780F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42664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8A0AC-9386-D191-4C69-0F4F6D41B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234A7-80B6-CDDB-FAD1-5C1B5EF56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CA6EF-B48E-8729-100F-C91A42CC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DD09-2DCF-4F4C-BD88-47BE76C44526}" type="datetimeFigureOut">
              <a:rPr lang="en-SG" smtClean="0"/>
              <a:t>3 Dec 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320A6-B820-3A3F-62AC-ECA657BFB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646D6-4436-122C-5B38-0BF4FD739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4583-F8B5-40B0-8486-FBB72F0780F2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70183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A91E7-5C35-FFFF-B4D6-863CA1C17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17417-23F1-F8A1-46E6-0918F4AE60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BFE3E-E7C8-1921-7D4E-967F770C4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D3B07A-1EA3-38B1-AE0E-372886EF7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DD09-2DCF-4F4C-BD88-47BE76C44526}" type="datetimeFigureOut">
              <a:rPr lang="en-SG" smtClean="0"/>
              <a:t>3 Dec 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DE8263-B8E2-15FF-90F4-7D3FE5E00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1F19E-B9BB-D33C-9A83-20A0C59D1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4583-F8B5-40B0-8486-FBB72F0780F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98297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D974B-C8C3-3D8B-2FA2-5C16AD8F4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FD5A8-949C-D6B7-EE69-68E536833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2143D-207F-BF71-9BEB-5B6C6A682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A1412A-D249-E95B-AEA6-AD583C17C5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E0F40B-AFE9-4996-1722-F0F9B0955D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E9AF35-6A4D-95DE-03F4-DE02025D3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DD09-2DCF-4F4C-BD88-47BE76C44526}" type="datetimeFigureOut">
              <a:rPr lang="en-SG" smtClean="0"/>
              <a:t>3 Dec 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15E751-42A2-CACC-8BF0-02C8DDC00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40B0C7-AA0A-12F9-5F13-CA8748E05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4583-F8B5-40B0-8486-FBB72F0780F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41852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703B3-3642-445D-EF47-53435F02F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C6FA58-BF8E-0C01-02F4-F309078C6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DD09-2DCF-4F4C-BD88-47BE76C44526}" type="datetimeFigureOut">
              <a:rPr lang="en-SG" smtClean="0"/>
              <a:t>3 Dec 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01971E-83E8-51E7-9BFE-9BA65B9FA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8EA4FA-363D-843A-84F1-9B77789A7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4583-F8B5-40B0-8486-FBB72F0780F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28337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1DB2DD-23B6-FDB6-1BE1-9D7F997CB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DD09-2DCF-4F4C-BD88-47BE76C44526}" type="datetimeFigureOut">
              <a:rPr lang="en-SG" smtClean="0"/>
              <a:t>3 Dec 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5F965A-F5FC-59B3-D3F8-D92138866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7BA16-6D24-C71B-E235-58233508A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4583-F8B5-40B0-8486-FBB72F0780F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82563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9364C-F454-AEF5-74A8-86BD33BD3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98BF1-7A5C-F6B9-44C4-92F57B147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260EF-A395-1522-DA78-10D01DDC2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162AE-3820-99CE-EC10-1F2E145E4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DD09-2DCF-4F4C-BD88-47BE76C44526}" type="datetimeFigureOut">
              <a:rPr lang="en-SG" smtClean="0"/>
              <a:t>3 Dec 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C1CC51-447C-EE7B-0DE5-662468C71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243C4-0848-65CF-BE18-A249B8FEF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4583-F8B5-40B0-8486-FBB72F0780F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766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2A70A-D45C-5D2E-9DF6-01D1CAACB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AF4A11-B973-9532-9CC2-3A0E33104D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2EE133-62F7-706D-4309-9FC238C35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049301-53C6-10A5-75EC-32774190E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DD09-2DCF-4F4C-BD88-47BE76C44526}" type="datetimeFigureOut">
              <a:rPr lang="en-SG" smtClean="0"/>
              <a:t>3 Dec 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5B3AC-AC80-0263-2465-3AE5E37E6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3EB9B-15B9-F5A3-4363-4F7878EC6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4583-F8B5-40B0-8486-FBB72F0780F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9283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C1E8D-748A-0B5E-974B-4189052AC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4F1C09-701D-2E44-4200-BE05DAD7A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55E92-14FF-988D-9CDA-9FB9FCF27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DD09-2DCF-4F4C-BD88-47BE76C44526}" type="datetimeFigureOut">
              <a:rPr lang="en-SG" smtClean="0"/>
              <a:t>3 Dec 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58C5C-7FD7-8C60-1F39-D5EC03474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098C7-9387-D287-DF46-719874CA9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4583-F8B5-40B0-8486-FBB72F0780F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77490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EB2AD7-91A6-2E70-D265-27B01F922F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4B9B68-53DD-7D11-43FD-B9B2DB328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81A5E-FC0B-3F67-1B37-C00813D54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DD09-2DCF-4F4C-BD88-47BE76C44526}" type="datetimeFigureOut">
              <a:rPr lang="en-SG" smtClean="0"/>
              <a:t>3 Dec 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9C331-2EFD-AA22-7600-A1C9C6490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7B44C-DFE6-2E62-5B27-7464E3675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4583-F8B5-40B0-8486-FBB72F0780F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49350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9EC862-AAA8-7382-93A0-878A3A0A4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1B406-81EA-B12D-6286-BE83A9483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F039-352D-7EF5-A7A8-5F5205BC16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0EDD09-2DCF-4F4C-BD88-47BE76C44526}" type="datetimeFigureOut">
              <a:rPr lang="en-SG" smtClean="0"/>
              <a:t>3 Dec 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2592-E347-CB76-3B25-FFB38B33F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6B55B-A715-3EB4-088F-76F9B08F0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D14583-F8B5-40B0-8486-FBB72F0780F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35572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9BEB522-DA34-36C4-83E5-46C8344CB23B}"/>
              </a:ext>
            </a:extLst>
          </p:cNvPr>
          <p:cNvSpPr/>
          <p:nvPr/>
        </p:nvSpPr>
        <p:spPr>
          <a:xfrm>
            <a:off x="583096" y="777801"/>
            <a:ext cx="10754139" cy="4523069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0" b="1" dirty="0">
                <a:latin typeface="Arial" panose="020B0604020202020204" pitchFamily="34" charset="0"/>
                <a:cs typeface="Arial" panose="020B0604020202020204" pitchFamily="34" charset="0"/>
              </a:rPr>
              <a:t>Sink to Source Vulnerability Discovery System </a:t>
            </a:r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(SVDS)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i="1" dirty="0">
                <a:solidFill>
                  <a:srgbClr val="FFFFFF">
                    <a:alpha val="9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Hybrid Static-Dynamic Analysis for Binary Memory Corruption Discovery 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angr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 err="1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DynamoRIO</a:t>
            </a: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Peekaboo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Python</a:t>
            </a:r>
            <a:endParaRPr lang="en-SG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9596913-CDB0-DEF9-D96C-9150DD371F4E}"/>
              </a:ext>
            </a:extLst>
          </p:cNvPr>
          <p:cNvSpPr/>
          <p:nvPr/>
        </p:nvSpPr>
        <p:spPr>
          <a:xfrm>
            <a:off x="583095" y="5891356"/>
            <a:ext cx="10754139" cy="377686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350" dirty="0">
                <a:latin typeface="Arial" panose="020B0604020202020204" pitchFamily="34" charset="0"/>
                <a:cs typeface="Arial" panose="020B0604020202020204" pitchFamily="34" charset="0"/>
              </a:rPr>
              <a:t>CS5231 System Security, Group 27 </a:t>
            </a:r>
            <a:r>
              <a:rPr lang="en-US" sz="135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350" b="1" dirty="0">
                <a:latin typeface="Arial" panose="020B0604020202020204" pitchFamily="34" charset="0"/>
                <a:cs typeface="Arial" panose="020B0604020202020204" pitchFamily="34" charset="0"/>
              </a:rPr>
              <a:t>Khong Ming Kang </a:t>
            </a:r>
            <a:r>
              <a:rPr lang="en-US" sz="1350" dirty="0">
                <a:latin typeface="Arial" panose="020B0604020202020204" pitchFamily="34" charset="0"/>
                <a:cs typeface="Arial" panose="020B0604020202020204" pitchFamily="34" charset="0"/>
              </a:rPr>
              <a:t>(A0326236H) </a:t>
            </a:r>
            <a:r>
              <a:rPr lang="en-US" sz="135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350" b="1" dirty="0">
                <a:latin typeface="Arial" panose="020B0604020202020204" pitchFamily="34" charset="0"/>
                <a:cs typeface="Arial" panose="020B0604020202020204" pitchFamily="34" charset="0"/>
              </a:rPr>
              <a:t>Liu Kaiyu </a:t>
            </a:r>
            <a:r>
              <a:rPr lang="en-US" sz="1350" dirty="0">
                <a:latin typeface="Arial" panose="020B0604020202020204" pitchFamily="34" charset="0"/>
                <a:cs typeface="Arial" panose="020B0604020202020204" pitchFamily="34" charset="0"/>
              </a:rPr>
              <a:t>(A0329246Y) </a:t>
            </a:r>
            <a:r>
              <a:rPr lang="en-US" sz="135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350" b="1" dirty="0">
                <a:latin typeface="Arial" panose="020B0604020202020204" pitchFamily="34" charset="0"/>
                <a:cs typeface="Arial" panose="020B0604020202020204" pitchFamily="34" charset="0"/>
              </a:rPr>
              <a:t>Varrick Koh Wei Jun </a:t>
            </a:r>
            <a:r>
              <a:rPr lang="en-US" sz="1350" dirty="0">
                <a:latin typeface="Arial" panose="020B0604020202020204" pitchFamily="34" charset="0"/>
                <a:cs typeface="Arial" panose="020B0604020202020204" pitchFamily="34" charset="0"/>
              </a:rPr>
              <a:t>(A0318160M)</a:t>
            </a:r>
            <a:endParaRPr lang="en-SG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25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C2B0B2-251F-4F23-E544-290744124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Problem Definition</a:t>
            </a:r>
            <a:endParaRPr lang="en-SG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E8A301AD-43E2-D9F8-1A8B-B3435573A7A0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oundRect">
            <a:avLst>
              <a:gd name="adj" fmla="val 7278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Challenge: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Vulnerability discovery research is increasingly difficult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Manual reverse-engineering efforts do not scale well for complex software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Exhaustive analysis is computationally expensive and manpower intensive</a:t>
            </a:r>
          </a:p>
          <a:p>
            <a:pPr algn="just"/>
            <a: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  <a:t>The key challenge is accurately identifying which execution paths allow attacker-controlled input to propagate into insecure or deprecated functions – i.e., vulnerable sinks.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31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Goal:</a:t>
            </a:r>
          </a:p>
          <a:p>
            <a:pPr marL="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improve researcher efficiency by accurately determining sources that lead to vulnerable sinks via static and dynamic analysis.</a:t>
            </a:r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552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C0073-E9A2-8684-EA2D-D0414372E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1E3EBC-DCD1-CAC6-22FA-7BD8F7CA2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Approach Overview</a:t>
            </a:r>
            <a:endParaRPr lang="en-SG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07EE69-3760-7AEC-6509-37A729E259BC}"/>
              </a:ext>
            </a:extLst>
          </p:cNvPr>
          <p:cNvSpPr/>
          <p:nvPr/>
        </p:nvSpPr>
        <p:spPr>
          <a:xfrm>
            <a:off x="838200" y="1948070"/>
            <a:ext cx="3316357" cy="4240695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Control-Flow Graph (CFG) construction using </a:t>
            </a:r>
            <a:r>
              <a:rPr lang="en-SG" sz="1600" b="1" i="1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angr</a:t>
            </a:r>
            <a:endParaRPr lang="en-SG" sz="1600" b="1" i="1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Identification of paths where user-controlled inputs can enter the program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Identification of potentially unsafe functions with AI analysis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F9A3918-DDCE-99D8-B027-735D464EA46D}"/>
              </a:ext>
            </a:extLst>
          </p:cNvPr>
          <p:cNvSpPr/>
          <p:nvPr/>
        </p:nvSpPr>
        <p:spPr>
          <a:xfrm>
            <a:off x="8037443" y="1948070"/>
            <a:ext cx="3316357" cy="4240693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b="1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DynamoRIO</a:t>
            </a:r>
            <a:r>
              <a:rPr lang="en-SG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SG" sz="16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Peekaboo</a:t>
            </a:r>
            <a:r>
              <a:rPr lang="en-SG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Trace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Taint report output for user analysis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1389968-D776-26F9-CF39-77F61F4F7A84}"/>
              </a:ext>
            </a:extLst>
          </p:cNvPr>
          <p:cNvSpPr/>
          <p:nvPr/>
        </p:nvSpPr>
        <p:spPr>
          <a:xfrm>
            <a:off x="4437821" y="1948071"/>
            <a:ext cx="3316357" cy="4240694"/>
          </a:xfrm>
          <a:prstGeom prst="roundRect">
            <a:avLst/>
          </a:prstGeom>
          <a:solidFill>
            <a:schemeClr val="bg1"/>
          </a:solidFill>
          <a:ln>
            <a:solidFill>
              <a:srgbClr val="30A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Wrapper generation for binary instrumentation and fuzzing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b="1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AFL-QEMU</a:t>
            </a:r>
            <a:r>
              <a:rPr lang="en-SG" sz="1600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SG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binary-only</a:t>
            </a:r>
            <a:r>
              <a:rPr lang="en-SG" sz="1600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SG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fuzzing to surface inputs that cause crashes, as well as the suitable seeds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9D0C2-7FFF-00DC-5CCD-C0F34548D822}"/>
              </a:ext>
            </a:extLst>
          </p:cNvPr>
          <p:cNvSpPr txBox="1"/>
          <p:nvPr/>
        </p:nvSpPr>
        <p:spPr>
          <a:xfrm>
            <a:off x="994741" y="2272742"/>
            <a:ext cx="3003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Phase 1: Static Analysis</a:t>
            </a:r>
            <a:endParaRPr lang="en-SG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D39741-1201-5524-B796-EF67FD1877CF}"/>
              </a:ext>
            </a:extLst>
          </p:cNvPr>
          <p:cNvSpPr txBox="1"/>
          <p:nvPr/>
        </p:nvSpPr>
        <p:spPr>
          <a:xfrm>
            <a:off x="4618795" y="2134242"/>
            <a:ext cx="3262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Phase 2: Dynamic Instrumentation &amp; Fuzzing</a:t>
            </a:r>
            <a:endParaRPr lang="en-SG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C717F8-CF67-256C-8FED-9B4CC83D4E6F}"/>
              </a:ext>
            </a:extLst>
          </p:cNvPr>
          <p:cNvSpPr txBox="1"/>
          <p:nvPr/>
        </p:nvSpPr>
        <p:spPr>
          <a:xfrm>
            <a:off x="8304143" y="2272742"/>
            <a:ext cx="2782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Phase 3: Taint Analysis</a:t>
            </a:r>
            <a:endParaRPr lang="en-SG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83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FD961-352E-1E48-7AF5-F303084EB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CF68B0-D13C-BDB0-379E-A99AF79F7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7814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SVDS Program Flow</a:t>
            </a:r>
            <a:endParaRPr lang="en-SG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3A58A0-43C5-1DCE-A3B7-89F1CC896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43" y="1216671"/>
            <a:ext cx="8350072" cy="5548563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D684345-807D-14E3-7D5A-0984532445F0}"/>
              </a:ext>
            </a:extLst>
          </p:cNvPr>
          <p:cNvSpPr txBox="1"/>
          <p:nvPr/>
        </p:nvSpPr>
        <p:spPr>
          <a:xfrm>
            <a:off x="9548191" y="1842052"/>
            <a:ext cx="227274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T</a:t>
            </a:r>
            <a:r>
              <a:rPr lang="en-US" dirty="0" err="1"/>
              <a:t>ools</a:t>
            </a:r>
            <a:r>
              <a:rPr lang="zh-CN" altLang="en-US" dirty="0"/>
              <a:t> </a:t>
            </a:r>
            <a:r>
              <a:rPr lang="en-US" altLang="zh-CN" dirty="0"/>
              <a:t>used:</a:t>
            </a:r>
            <a:r>
              <a:rPr lang="zh-CN" altLang="en-US" dirty="0"/>
              <a:t> 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OpenAI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angr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AFLplusplus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DynamoRIO</a:t>
            </a:r>
            <a:r>
              <a:rPr lang="en-US" dirty="0"/>
              <a:t> + Peekaboo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77985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37CB0-E55A-9759-CBB2-EE2C832C2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2A2A2E-E85D-7952-4715-C6D6CFB5C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2787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8800" b="1" dirty="0">
                <a:latin typeface="Arial" panose="020B0604020202020204" pitchFamily="34" charset="0"/>
                <a:cs typeface="Arial" panose="020B0604020202020204" pitchFamily="34" charset="0"/>
              </a:rPr>
              <a:t>SVDS Demo </a:t>
            </a:r>
            <a:r>
              <a:rPr lang="en-US" sz="88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</a:t>
            </a:r>
            <a:endParaRPr lang="en-SG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017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254</Words>
  <Application>Microsoft Office PowerPoint</Application>
  <PresentationFormat>Widescreen</PresentationFormat>
  <Paragraphs>39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Problem Definition</vt:lpstr>
      <vt:lpstr>Approach Overview</vt:lpstr>
      <vt:lpstr>SVDS Program Flow</vt:lpstr>
      <vt:lpstr>SVDS Demo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Varrick Koh Wei Jun</dc:creator>
  <cp:lastModifiedBy>Varrick Koh Wei Jun</cp:lastModifiedBy>
  <cp:revision>23</cp:revision>
  <dcterms:created xsi:type="dcterms:W3CDTF">2025-11-30T10:21:27Z</dcterms:created>
  <dcterms:modified xsi:type="dcterms:W3CDTF">2025-12-02T16:08:30Z</dcterms:modified>
</cp:coreProperties>
</file>